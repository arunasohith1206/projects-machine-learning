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3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88BB-E6A8-802A-000E-571CF52DE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903ECA-64E4-40A7-9A21-3D5491040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D7B22-A68D-A9FA-7B45-EE92BD2E4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BC50B9-8B23-0673-43BC-A4A3D0372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610BC-0BB5-6AB3-5FA0-36EDB57C3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93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FAF9D-075E-FFC9-CF3E-E1170A7C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907E3-996B-41F2-AE67-498CD8144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D18190-3311-7E72-FC6D-64E36C337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829EE-DA0C-1183-E02B-07C060064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98F848-C875-DAC7-B35F-C4B1A1E01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685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E413-AE48-FF26-DFA3-690B5C020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C41F1A-63CB-38FD-9829-1E3BE5205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83C53-E312-9FE3-C0EA-48E6EA785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C0B3D-020D-5D30-4426-ED5AFE4F9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94BD0-09E6-EA80-9B2A-6935817E8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02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99D5-18EB-6302-5CE8-E70848388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28705-16E6-0FDA-EF13-99D0759ACF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948E1-3A44-BFE3-C5B7-A3AB8A8901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B3B546-586E-189D-3382-80AB4821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396200-1C73-1217-FB5F-245030500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F2AA71-75CC-FBC8-A8EB-0EBBF3F78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57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50BA7-8B24-3D7C-5CA9-9800EBE7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5AC7D-4BFF-86F4-D5E3-D7D7C3C81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2FC82-F74A-C25D-4B8E-BEBA5F2DF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7B4072-C60C-1CB0-5DED-70A00EC2C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30B4D7-78AB-71FB-03BB-7CCDD76E7B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FDC7AD-E4DA-070A-8695-A12DD95C1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D3159A-7EF4-FC90-3889-341B85A61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C28778-2869-9BB8-2DFF-E4555122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1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F132E-7277-9889-4174-98596CAB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BCD24-24D8-C2DF-8AAB-FB828BA4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5411F-D10B-8B7C-3C0C-4A03C59ED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F0C2C7-4474-0D17-3C9E-B7E1972CD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239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AB692D-5733-ABDF-8F48-9BED09B5F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F822A-ECD1-5ED7-1C41-A2F1DF222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279485-C3AB-99A0-FC1F-26EBBB59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689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3E81-6294-2D71-6D6E-4631D4F61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9F811-AEE2-7AFE-C21A-FA74AB6356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865B07-B016-9B23-1D70-07B8ACB899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CE639-A2BC-BF34-F2CE-C711F86B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4E442E-F96E-68AD-87C1-F0A13F03B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502EF-50A8-8D16-A538-B87676FD8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476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A8D3-FDEA-9B76-F7BE-43C4BC8E8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D2503F-3DC5-8802-56C6-FB209E4CB6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EB8852-2AD4-B335-48DD-759FA37F30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50D186-E641-10D7-AD67-2591029B5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78AB1A-28D2-2C00-F256-677A08F24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348B36-EF25-C224-20EA-E6A47AFEC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81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0AE39-AFC1-AC50-3B0B-F008BE9B5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946DE3-3A12-D756-7097-7F51FA06C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E13FA-0BF7-5508-66DE-D8CA455F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9CD7C-81F0-26CE-D72A-24DDFF08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BB1EE3-05F0-DB28-CFFA-3EABD7B25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344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9BCEA-135D-A1E0-D09A-259FA2E12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DBD1A-A883-82D8-0819-F6E78B97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778F5-9E0C-A53C-69A0-6E8FA585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F6A534-3994-D328-CD71-78CBBE07D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EB92E-670D-6DBF-D097-36BEAFF4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412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A6E7CD-E371-980D-44D4-69C7934FC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59AB6-E836-E371-5F0C-858E83300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3D5CC-F2AC-2A0A-349D-6BFA149443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1F3954-E291-42FB-873F-5175AB19F065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1D64CE-B9B5-E848-E3F6-1A421F9217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3CB92-A1E5-47F3-6938-C820BC930E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57465-D772-43B5-A2D3-7436896D50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87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39" r:id="rId1"/>
    <p:sldLayoutId id="2147484440" r:id="rId2"/>
    <p:sldLayoutId id="2147484441" r:id="rId3"/>
    <p:sldLayoutId id="2147484442" r:id="rId4"/>
    <p:sldLayoutId id="2147484443" r:id="rId5"/>
    <p:sldLayoutId id="2147484444" r:id="rId6"/>
    <p:sldLayoutId id="2147484445" r:id="rId7"/>
    <p:sldLayoutId id="2147484446" r:id="rId8"/>
    <p:sldLayoutId id="2147484447" r:id="rId9"/>
    <p:sldLayoutId id="2147484448" r:id="rId10"/>
    <p:sldLayoutId id="21474844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27600-EC37-4F54-19E3-10E5C361F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87" y="130629"/>
            <a:ext cx="10863942" cy="4343400"/>
          </a:xfrm>
          <a:noFill/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C00000"/>
                </a:solidFill>
              </a:rPr>
              <a:t>Title</a:t>
            </a:r>
            <a:r>
              <a:rPr lang="en-US" sz="4400" dirty="0">
                <a:solidFill>
                  <a:srgbClr val="C00000"/>
                </a:solidFill>
              </a:rPr>
              <a:t> </a:t>
            </a:r>
            <a:br>
              <a:rPr lang="en-US" sz="3200" dirty="0"/>
            </a:br>
            <a:br>
              <a:rPr lang="en-US" sz="3200" dirty="0"/>
            </a:br>
            <a:r>
              <a:rPr lang="en-US" sz="3200" b="1" dirty="0">
                <a:solidFill>
                  <a:srgbClr val="0070C0"/>
                </a:solidFill>
              </a:rPr>
              <a:t>Credit Card Fraud Detection using Machine Learning</a:t>
            </a:r>
            <a:br>
              <a:rPr lang="en-US" sz="3200" b="1" dirty="0">
                <a:solidFill>
                  <a:srgbClr val="0070C0"/>
                </a:solidFill>
              </a:rPr>
            </a:br>
            <a:r>
              <a:rPr lang="en-US" sz="3100" b="1" dirty="0"/>
              <a:t>Identifying fraudulent transactions using data analytics &amp; machine learning</a:t>
            </a:r>
            <a:br>
              <a:rPr lang="en-US" sz="3100" b="1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1028" name="Picture 4" descr="1,015 American Express Credit Card Stock Photos, High-Res ...">
            <a:extLst>
              <a:ext uri="{FF2B5EF4-FFF2-40B4-BE49-F238E27FC236}">
                <a16:creationId xmlns:a16="http://schemas.microsoft.com/office/drawing/2014/main" id="{94F180F4-0F67-6D2E-D9ED-CE365D3872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4743" y="2895600"/>
            <a:ext cx="7674427" cy="37446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151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9245E-0D37-C4BF-D78B-96A3C6C4A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71" y="373626"/>
            <a:ext cx="11769213" cy="4404851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Project Overview</a:t>
            </a:r>
            <a:br>
              <a:rPr lang="en-US" dirty="0"/>
            </a:br>
            <a:br>
              <a:rPr lang="en-US" dirty="0"/>
            </a:br>
            <a:r>
              <a:rPr lang="en-US" sz="4400" b="1" dirty="0">
                <a:solidFill>
                  <a:srgbClr val="0070C0"/>
                </a:solidFill>
              </a:rPr>
              <a:t>Goal: </a:t>
            </a:r>
            <a:r>
              <a:rPr lang="en-US" sz="4400" dirty="0"/>
              <a:t>Detect fraudulent transactions</a:t>
            </a:r>
            <a:br>
              <a:rPr lang="en-US" sz="4400" b="1" dirty="0"/>
            </a:br>
            <a:r>
              <a:rPr lang="en-US" sz="4400" b="1" dirty="0">
                <a:solidFill>
                  <a:srgbClr val="0070C0"/>
                </a:solidFill>
              </a:rPr>
              <a:t>Importance:</a:t>
            </a:r>
            <a:r>
              <a:rPr lang="en-US" sz="4400" b="1" dirty="0"/>
              <a:t> </a:t>
            </a:r>
            <a:r>
              <a:rPr lang="en-US" sz="4400" dirty="0"/>
              <a:t>Prevent financial loss &amp; improve security</a:t>
            </a:r>
            <a:br>
              <a:rPr lang="en-US" sz="4400" b="1" dirty="0"/>
            </a:br>
            <a:r>
              <a:rPr lang="en-US" sz="4400" b="1" dirty="0">
                <a:solidFill>
                  <a:srgbClr val="0070C0"/>
                </a:solidFill>
              </a:rPr>
              <a:t>Approach:</a:t>
            </a:r>
            <a:r>
              <a:rPr lang="en-US" sz="4400" b="1" dirty="0"/>
              <a:t> </a:t>
            </a:r>
            <a:r>
              <a:rPr lang="en-US" sz="4000" b="1" dirty="0"/>
              <a:t>EDA → Preprocessing → Modeling → Evaluation</a:t>
            </a:r>
            <a:br>
              <a:rPr lang="en-US" sz="4000" dirty="0"/>
            </a:br>
            <a:endParaRPr lang="en-US" sz="40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874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CFF8-134B-DCCA-CE44-BCFF710376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2787" y="1012722"/>
            <a:ext cx="11464413" cy="5112775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Dataset Overview</a:t>
            </a:r>
            <a:br>
              <a:rPr lang="en-US" dirty="0"/>
            </a:br>
            <a:r>
              <a:rPr lang="en-US" sz="4000" b="1" dirty="0"/>
              <a:t>Anonymous PCA-transformed dataset</a:t>
            </a:r>
            <a:br>
              <a:rPr lang="en-US" sz="4000" b="1" dirty="0"/>
            </a:br>
            <a:r>
              <a:rPr lang="en-US" sz="4000" b="1" dirty="0"/>
              <a:t>Highly imbalanced classes</a:t>
            </a:r>
            <a:br>
              <a:rPr lang="en-US" sz="4000" b="1" dirty="0"/>
            </a:br>
            <a:r>
              <a:rPr lang="en-US" sz="4000" b="1" dirty="0">
                <a:solidFill>
                  <a:srgbClr val="0070C0"/>
                </a:solidFill>
              </a:rPr>
              <a:t>Key fields: </a:t>
            </a:r>
            <a:r>
              <a:rPr lang="en-US" sz="4000" b="1" dirty="0"/>
              <a:t>Time, Amount, PCA components (V1–V28), Class</a:t>
            </a:r>
            <a:br>
              <a:rPr lang="en-US" sz="4000" b="1" dirty="0"/>
            </a:br>
            <a:r>
              <a:rPr lang="en-US" sz="4000" b="1" dirty="0">
                <a:solidFill>
                  <a:srgbClr val="0070C0"/>
                </a:solidFill>
              </a:rPr>
              <a:t>Target : </a:t>
            </a:r>
            <a:r>
              <a:rPr lang="en-US" sz="4000" dirty="0"/>
              <a:t>Class (0 = Legitimate, 1 = Fraud)</a:t>
            </a:r>
            <a:br>
              <a:rPr lang="en-US" sz="4000" dirty="0"/>
            </a:br>
            <a:r>
              <a:rPr lang="en-US" sz="4000" b="1" dirty="0">
                <a:solidFill>
                  <a:srgbClr val="0070C0"/>
                </a:solidFill>
              </a:rPr>
              <a:t>Number of records: </a:t>
            </a:r>
            <a:r>
              <a:rPr lang="en-US" sz="4000" dirty="0"/>
              <a:t>284,807 transactions</a:t>
            </a:r>
            <a:br>
              <a:rPr lang="en-US" sz="4400" b="1" dirty="0"/>
            </a:b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25265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68EC5-1E86-368A-FDBB-D59022E12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-68826"/>
            <a:ext cx="10803194" cy="6508955"/>
          </a:xfrm>
        </p:spPr>
        <p:txBody>
          <a:bodyPr>
            <a:normAutofit fontScale="47500" lnSpcReduction="20000"/>
          </a:bodyPr>
          <a:lstStyle/>
          <a:p>
            <a:endParaRPr lang="en-US" sz="4000" b="1" dirty="0"/>
          </a:p>
          <a:p>
            <a:pPr marL="0" indent="0">
              <a:buNone/>
            </a:pPr>
            <a:r>
              <a:rPr lang="en-US" sz="12300" b="1" dirty="0">
                <a:solidFill>
                  <a:srgbClr val="C00000"/>
                </a:solidFill>
              </a:rPr>
              <a:t>Exploratory Data Analysis</a:t>
            </a:r>
          </a:p>
          <a:p>
            <a:pPr lvl="0"/>
            <a:r>
              <a:rPr lang="en-US" sz="6700" dirty="0"/>
              <a:t>Extreme class imbalance</a:t>
            </a:r>
          </a:p>
          <a:p>
            <a:pPr lvl="0"/>
            <a:r>
              <a:rPr lang="en-US" sz="6700" dirty="0"/>
              <a:t>PCA components show unique patterns</a:t>
            </a:r>
          </a:p>
          <a:p>
            <a:pPr lvl="0"/>
            <a:r>
              <a:rPr lang="en-US" sz="6700" dirty="0"/>
              <a:t>Some features correlate with fraud</a:t>
            </a:r>
          </a:p>
          <a:p>
            <a:pPr lvl="0"/>
            <a:r>
              <a:rPr lang="en-US" sz="6700" dirty="0"/>
              <a:t>Fraud patterns differ sharply from normal behavior</a:t>
            </a:r>
          </a:p>
          <a:p>
            <a:pPr marL="0" indent="0">
              <a:buNone/>
            </a:pPr>
            <a:r>
              <a:rPr lang="en-US" sz="7300" b="1" dirty="0">
                <a:solidFill>
                  <a:srgbClr val="C00000"/>
                </a:solidFill>
              </a:rPr>
              <a:t> Data Preprocessing</a:t>
            </a:r>
          </a:p>
          <a:p>
            <a:r>
              <a:rPr lang="en-US" sz="6700" dirty="0"/>
              <a:t>Check for missing values</a:t>
            </a:r>
          </a:p>
          <a:p>
            <a:r>
              <a:rPr lang="en-US" sz="6700" dirty="0"/>
              <a:t>Analyze class distribution</a:t>
            </a:r>
          </a:p>
          <a:p>
            <a:r>
              <a:rPr lang="en-US" sz="6700" dirty="0"/>
              <a:t>Feature scaling (Standardization / Normalization)</a:t>
            </a:r>
          </a:p>
          <a:p>
            <a:r>
              <a:rPr lang="en-US" sz="6700" dirty="0"/>
              <a:t>Handling class imbalance (SMOTE, under-sampling, etc.)</a:t>
            </a:r>
          </a:p>
          <a:p>
            <a:r>
              <a:rPr lang="en-US" sz="6700" dirty="0"/>
              <a:t>Visualizations (histograms, boxplots)</a:t>
            </a: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714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4BD93-2A15-BC63-C7AC-1F3555FAB7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477" y="835742"/>
            <a:ext cx="9714271" cy="5014452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Machine Learning Models Used</a:t>
            </a:r>
            <a:br>
              <a:rPr lang="en-US" b="1" dirty="0"/>
            </a:br>
            <a:r>
              <a:rPr lang="en-US" sz="4000" b="1" dirty="0"/>
              <a:t>Logistic Regression , Decision Tree, Random Forest</a:t>
            </a:r>
            <a:br>
              <a:rPr lang="en-US" sz="4800" b="1" dirty="0">
                <a:solidFill>
                  <a:srgbClr val="0070C0"/>
                </a:solidFill>
              </a:rPr>
            </a:br>
            <a:r>
              <a:rPr lang="en-US" sz="4000" b="1" dirty="0">
                <a:solidFill>
                  <a:srgbClr val="0070C0"/>
                </a:solidFill>
              </a:rPr>
              <a:t>Focus:</a:t>
            </a:r>
            <a:r>
              <a:rPr lang="en-US" sz="4000" dirty="0"/>
              <a:t> Precision, Recall, F1-score, ROC-AUC</a:t>
            </a:r>
            <a:br>
              <a:rPr lang="en-US" sz="4000" dirty="0"/>
            </a:br>
            <a:r>
              <a:rPr lang="en-US" sz="4000" b="1" dirty="0">
                <a:solidFill>
                  <a:srgbClr val="0070C0"/>
                </a:solidFill>
              </a:rPr>
              <a:t>Goal:</a:t>
            </a:r>
            <a:r>
              <a:rPr lang="en-US" sz="4000" dirty="0"/>
              <a:t> Maximize detection (recall)</a:t>
            </a:r>
            <a:br>
              <a:rPr lang="en-US" sz="4000" dirty="0"/>
            </a:br>
            <a:br>
              <a:rPr lang="en-US" sz="4000" dirty="0">
                <a:solidFill>
                  <a:srgbClr val="0070C0"/>
                </a:solidFill>
              </a:rPr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12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8E4CC-DE66-E03D-4ED2-1B7D50A7FD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771" y="1111044"/>
            <a:ext cx="11538858" cy="5653549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>
                <a:solidFill>
                  <a:srgbClr val="C00000"/>
                </a:solidFill>
              </a:rPr>
              <a:t>Model Training &amp; Evaluation</a:t>
            </a:r>
            <a:br>
              <a:rPr lang="en-US" sz="3600" b="1" dirty="0"/>
            </a:br>
            <a:r>
              <a:rPr lang="en-US" sz="3600" b="1" dirty="0">
                <a:solidFill>
                  <a:srgbClr val="0070C0"/>
                </a:solidFill>
              </a:rPr>
              <a:t>Split dataset: </a:t>
            </a:r>
            <a:r>
              <a:rPr lang="en-US" sz="3600" dirty="0"/>
              <a:t>Train/Test (80/20)</a:t>
            </a:r>
            <a:br>
              <a:rPr lang="en-US" sz="3600" dirty="0"/>
            </a:br>
            <a:r>
              <a:rPr lang="en-US" sz="3600" b="1" dirty="0">
                <a:solidFill>
                  <a:srgbClr val="0070C0"/>
                </a:solidFill>
              </a:rPr>
              <a:t>Metrics used : </a:t>
            </a:r>
            <a:r>
              <a:rPr lang="en-US" sz="3600" dirty="0"/>
              <a:t>Accuracy ,Precision, Recall, F1-Score, ROC-AUC</a:t>
            </a:r>
            <a:br>
              <a:rPr lang="en-US" sz="3600" dirty="0"/>
            </a:br>
            <a:br>
              <a:rPr lang="en-US" sz="3600" dirty="0"/>
            </a:br>
            <a:r>
              <a:rPr lang="en-US" sz="3100" b="1" dirty="0">
                <a:solidFill>
                  <a:srgbClr val="0070C0"/>
                </a:solidFill>
              </a:rPr>
              <a:t>Model Results</a:t>
            </a:r>
            <a:br>
              <a:rPr lang="en-US" sz="3100" dirty="0"/>
            </a:br>
            <a:r>
              <a:rPr lang="en-US" sz="3100" dirty="0"/>
              <a:t>Accuracy: ____</a:t>
            </a:r>
            <a:br>
              <a:rPr lang="en-US" sz="3100" dirty="0"/>
            </a:br>
            <a:r>
              <a:rPr lang="en-US" sz="3100" dirty="0"/>
              <a:t>Precision: ____</a:t>
            </a:r>
            <a:br>
              <a:rPr lang="en-US" sz="3100" dirty="0"/>
            </a:br>
            <a:r>
              <a:rPr lang="en-US" sz="3100" dirty="0"/>
              <a:t>Recall: ____</a:t>
            </a:r>
            <a:br>
              <a:rPr lang="en-US" sz="3100" dirty="0"/>
            </a:br>
            <a:r>
              <a:rPr lang="en-US" sz="3100" dirty="0"/>
              <a:t>F1-score: ____</a:t>
            </a:r>
            <a:br>
              <a:rPr lang="en-US" sz="3100" dirty="0"/>
            </a:br>
            <a:r>
              <a:rPr lang="en-US" sz="3100" dirty="0"/>
              <a:t>Best model: ____</a:t>
            </a:r>
            <a:br>
              <a:rPr lang="en-US" sz="3100" dirty="0"/>
            </a:br>
            <a:endParaRPr lang="en-US" sz="3100" dirty="0"/>
          </a:p>
        </p:txBody>
      </p:sp>
    </p:spTree>
    <p:extLst>
      <p:ext uri="{BB962C8B-B14F-4D97-AF65-F5344CB8AC3E}">
        <p14:creationId xmlns:p14="http://schemas.microsoft.com/office/powerpoint/2010/main" val="2330014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DB29D-AC55-4285-669A-D24AE2EE30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75303"/>
            <a:ext cx="10461523" cy="622382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Visualizations</a:t>
            </a:r>
            <a:br>
              <a:rPr lang="en-US" dirty="0"/>
            </a:br>
            <a:br>
              <a:rPr lang="en-US" dirty="0"/>
            </a:br>
            <a:r>
              <a:rPr lang="en-US" i="1" dirty="0"/>
              <a:t>(Placeholder for your graphs)</a:t>
            </a:r>
            <a:br>
              <a:rPr lang="en-US" dirty="0"/>
            </a:br>
            <a:r>
              <a:rPr lang="en-US" dirty="0"/>
              <a:t>Class distribution</a:t>
            </a:r>
            <a:br>
              <a:rPr lang="en-US" dirty="0"/>
            </a:br>
            <a:r>
              <a:rPr lang="en-US" dirty="0"/>
              <a:t>Top feature correlations</a:t>
            </a:r>
            <a:br>
              <a:rPr lang="en-US" dirty="0"/>
            </a:br>
            <a:r>
              <a:rPr lang="en-US" dirty="0"/>
              <a:t>Confusion matrix</a:t>
            </a:r>
            <a:br>
              <a:rPr lang="en-US" dirty="0"/>
            </a:br>
            <a:r>
              <a:rPr lang="en-US" dirty="0"/>
              <a:t>ROC curve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20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C072-A4A5-7D9D-CDCB-43B3B3987B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143" y="1297858"/>
            <a:ext cx="11297264" cy="3814916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Challenges &amp; Solutions</a:t>
            </a:r>
            <a:br>
              <a:rPr lang="en-US" b="1" dirty="0"/>
            </a:br>
            <a:r>
              <a:rPr lang="en-US" sz="4400" b="1" dirty="0">
                <a:solidFill>
                  <a:srgbClr val="0070C0"/>
                </a:solidFill>
              </a:rPr>
              <a:t>Data imbalance </a:t>
            </a:r>
            <a:r>
              <a:rPr lang="en-US" sz="4400" dirty="0"/>
              <a:t>→ </a:t>
            </a:r>
            <a:r>
              <a:rPr lang="en-US" sz="4000" dirty="0"/>
              <a:t>SMOTE/Weighted Loss</a:t>
            </a:r>
            <a:br>
              <a:rPr lang="en-US" sz="4400" dirty="0"/>
            </a:br>
            <a:r>
              <a:rPr lang="en-US" sz="4400" b="1" dirty="0">
                <a:solidFill>
                  <a:srgbClr val="0070C0"/>
                </a:solidFill>
              </a:rPr>
              <a:t>Overfitting </a:t>
            </a:r>
            <a:r>
              <a:rPr lang="en-US" sz="4400" dirty="0"/>
              <a:t>→ </a:t>
            </a:r>
            <a:r>
              <a:rPr lang="en-US" sz="3600" b="1" dirty="0"/>
              <a:t>Cross-validation , Hyperparameter tuning</a:t>
            </a:r>
            <a:br>
              <a:rPr lang="en-US" sz="4400" dirty="0"/>
            </a:br>
            <a:r>
              <a:rPr lang="en-US" sz="4400" b="1" dirty="0">
                <a:solidFill>
                  <a:srgbClr val="0070C0"/>
                </a:solidFill>
              </a:rPr>
              <a:t>Real-time prediction </a:t>
            </a:r>
            <a:r>
              <a:rPr lang="en-US" sz="4000" dirty="0"/>
              <a:t>→ Model optimization</a:t>
            </a:r>
            <a:br>
              <a:rPr lang="en-US" sz="44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459022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0F731-2770-A279-CF8A-AC517AA64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090" y="285135"/>
            <a:ext cx="11179278" cy="4296697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</a:rPr>
              <a:t>Conclusion</a:t>
            </a:r>
            <a:br>
              <a:rPr lang="en-US" b="1" dirty="0"/>
            </a:br>
            <a:r>
              <a:rPr lang="en-US" sz="3600" dirty="0"/>
              <a:t>Best performing model -Random Forest</a:t>
            </a:r>
            <a:br>
              <a:rPr lang="en-US" sz="3600" dirty="0"/>
            </a:br>
            <a:r>
              <a:rPr lang="en-US" sz="3600" b="1" dirty="0">
                <a:solidFill>
                  <a:srgbClr val="0070C0"/>
                </a:solidFill>
              </a:rPr>
              <a:t>Key take aways: </a:t>
            </a:r>
            <a:r>
              <a:rPr lang="en-US" sz="3600" dirty="0"/>
              <a:t>ML can significantly reduce fraud, need continuous monitoring and retraining</a:t>
            </a:r>
            <a:br>
              <a:rPr lang="en-US" sz="3600" dirty="0"/>
            </a:br>
            <a:r>
              <a:rPr lang="en-US" sz="3600" b="1" dirty="0">
                <a:solidFill>
                  <a:srgbClr val="0070C0"/>
                </a:solidFill>
              </a:rPr>
              <a:t>Future Work: </a:t>
            </a:r>
            <a:r>
              <a:rPr lang="en-US" sz="3600" dirty="0"/>
              <a:t>Deploying the model in real-time systems</a:t>
            </a:r>
            <a:br>
              <a:rPr lang="en-US" sz="3600" dirty="0"/>
            </a:br>
            <a:r>
              <a:rPr lang="en-US" sz="3600" dirty="0"/>
              <a:t>Feature engineering improvements</a:t>
            </a:r>
            <a:br>
              <a:rPr lang="en-US" sz="3600" dirty="0"/>
            </a:b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642661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329</Words>
  <Application>Microsoft Office PowerPoint</Application>
  <PresentationFormat>Widescreen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Narrow</vt:lpstr>
      <vt:lpstr>Calibri</vt:lpstr>
      <vt:lpstr>Calibri Light</vt:lpstr>
      <vt:lpstr>Office Theme</vt:lpstr>
      <vt:lpstr>Title   Credit Card Fraud Detection using Machine Learning Identifying fraudulent transactions using data analytics &amp; machine learning   </vt:lpstr>
      <vt:lpstr>Project Overview  Goal: Detect fraudulent transactions Importance: Prevent financial loss &amp; improve security Approach: EDA → Preprocessing → Modeling → Evaluation </vt:lpstr>
      <vt:lpstr>Dataset Overview Anonymous PCA-transformed dataset Highly imbalanced classes Key fields: Time, Amount, PCA components (V1–V28), Class Target : Class (0 = Legitimate, 1 = Fraud) Number of records: 284,807 transactions </vt:lpstr>
      <vt:lpstr>PowerPoint Presentation</vt:lpstr>
      <vt:lpstr>Machine Learning Models Used Logistic Regression , Decision Tree, Random Forest Focus: Precision, Recall, F1-score, ROC-AUC Goal: Maximize detection (recall)   </vt:lpstr>
      <vt:lpstr>Model Training &amp; Evaluation Split dataset: Train/Test (80/20) Metrics used : Accuracy ,Precision, Recall, F1-Score, ROC-AUC  Model Results Accuracy: ____ Precision: ____ Recall: ____ F1-score: ____ Best model: ____ </vt:lpstr>
      <vt:lpstr>Visualizations  (Placeholder for your graphs) Class distribution Top feature correlations Confusion matrix ROC curve </vt:lpstr>
      <vt:lpstr>Challenges &amp; Solutions Data imbalance → SMOTE/Weighted Loss Overfitting → Cross-validation , Hyperparameter tuning Real-time prediction → Model optimization </vt:lpstr>
      <vt:lpstr>Conclusion Best performing model -Random Forest Key take aways: ML can significantly reduce fraud, need continuous monitoring and retraining Future Work: Deploying the model in real-time systems Feature engineering improvements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KUMARI</dc:creator>
  <cp:lastModifiedBy>ARUNA KUMARI</cp:lastModifiedBy>
  <cp:revision>5</cp:revision>
  <dcterms:created xsi:type="dcterms:W3CDTF">2025-12-03T15:18:31Z</dcterms:created>
  <dcterms:modified xsi:type="dcterms:W3CDTF">2025-12-17T13:00:56Z</dcterms:modified>
</cp:coreProperties>
</file>